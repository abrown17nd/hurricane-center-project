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68" r:id="rId4"/>
    <p:sldId id="260" r:id="rId5"/>
    <p:sldId id="262" r:id="rId6"/>
    <p:sldId id="263" r:id="rId7"/>
    <p:sldId id="261" r:id="rId8"/>
    <p:sldId id="266" r:id="rId9"/>
    <p:sldId id="267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/>
    <p:restoredTop sz="96405"/>
  </p:normalViewPr>
  <p:slideViewPr>
    <p:cSldViewPr snapToGrid="0">
      <p:cViewPr varScale="1">
        <p:scale>
          <a:sx n="127" d="100"/>
          <a:sy n="127" d="100"/>
        </p:scale>
        <p:origin x="10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C773F-ED91-3379-B3F9-A1FFE521CE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497534-3C2F-0F41-B18A-0254AC6EA3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6A64D-27D2-4A65-1D98-512669172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8145E-D48C-4643-AB47-D9660A1880AA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8115F1-1450-34F3-7EC6-288B202EA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B2BD18-3B69-C29C-70DC-7A7BC5606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0FE18-2E54-3741-9C32-297143083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055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C40C1-972B-9C6F-1C0B-D541FDF2A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BE8C3-045E-5C4D-BE8B-922B1B1DA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05F30-5AA3-9940-C877-1E2FA547E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8145E-D48C-4643-AB47-D9660A1880AA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10BD8-F74A-FCB2-1675-71E20CD68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6FBB8-BDE9-A45E-2E2A-4A98D7268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0FE18-2E54-3741-9C32-297143083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707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706C2-637B-3003-1627-902E3F238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7EF46D-1EF0-9B40-38E7-ABECE826E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C7AB0-0B30-3194-825D-99019B930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8145E-D48C-4643-AB47-D9660A1880AA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4CC4C-DA81-F73D-58ED-A60E0666B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7597D-9442-9DEF-861C-ECF017CCB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0FE18-2E54-3741-9C32-297143083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695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6E8EE-4A7E-8457-E434-92D0FE5A0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0A57E-42A9-FC0B-1A87-18AADE73D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5F148E-C129-31B5-D51B-AE9A11C934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220726-5C99-CCA4-A422-627AD2C40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8145E-D48C-4643-AB47-D9660A1880AA}" type="datetimeFigureOut">
              <a:rPr lang="en-US" smtClean="0"/>
              <a:t>9/24/25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82976C-CF19-4540-98C2-B8B4C5D14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17F64E-5913-84BB-EE36-D494B8C07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0FE18-2E54-3741-9C32-297143083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005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29659-5C2B-5514-B73F-675F1ADA0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CF290E-2F3C-62E2-772C-7EA11EEB1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6C16D6-8B29-5DF9-6A14-6C8AF0E767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2545E1-680E-FDF4-6A31-91A98991EA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827AF1-CBBA-0E35-6861-E11A02B653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5E7276-0376-45F6-98DD-8474B54C1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8145E-D48C-4643-AB47-D9660A1880AA}" type="datetimeFigureOut">
              <a:rPr lang="en-US" smtClean="0"/>
              <a:t>9/24/25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1C9D2E-338A-242D-A40A-39F6B6859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E8D24-9D42-C4FF-3C34-FF6A51B97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0FE18-2E54-3741-9C32-297143083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939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9D07C-E7E3-BFDF-7E97-D24AD4AEF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B36CE3-7F7C-7617-2E9D-08CF0A939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8145E-D48C-4643-AB47-D9660A1880AA}" type="datetimeFigureOut">
              <a:rPr lang="en-US" smtClean="0"/>
              <a:t>9/24/25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BE2146-1FE6-FC4E-4C5F-3F4CBD575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11DA4-7C1E-485C-EE7D-D38BA8742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0FE18-2E54-3741-9C32-297143083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954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040B21-A958-C04B-464E-203086105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8145E-D48C-4643-AB47-D9660A1880AA}" type="datetimeFigureOut">
              <a:rPr lang="en-US" smtClean="0"/>
              <a:t>9/24/25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CB6AB1-102A-5E73-BA40-70CA1C3E7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399EE-09D5-5F05-362F-84107D688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0FE18-2E54-3741-9C32-297143083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555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4D0C5-5770-B95F-C286-E3356A476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A8C4D-03CC-CE5B-7E6A-7A69512E6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B7D011-D9CA-FC58-AEEC-2A225455A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2824CE-4323-12A0-8145-47BCAA20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8145E-D48C-4643-AB47-D9660A1880AA}" type="datetimeFigureOut">
              <a:rPr lang="en-US" smtClean="0"/>
              <a:t>9/24/25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7EAA08-6CE8-EB61-C056-C94C4A9D9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3B31BC-89DB-0704-C18E-B590ECDCA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0FE18-2E54-3741-9C32-297143083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692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1F8E0-43A2-D161-2E9C-12FAC5CF5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76C492-5D86-56D7-1026-F079B0FC1F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4C3070-FA7A-BE4F-097E-44253BCBAD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FD4D3A-7261-43D0-A0BC-0A95BB554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8145E-D48C-4643-AB47-D9660A1880AA}" type="datetimeFigureOut">
              <a:rPr lang="en-US" smtClean="0"/>
              <a:t>9/24/25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838111-A521-9086-6FF7-2C7155771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D83764-14B8-E8A0-B5DE-BACA1F036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0FE18-2E54-3741-9C32-297143083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998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85293-DB70-A494-8C9D-FDDAD2360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2B174C-C686-CDB5-406D-067FBED1DE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A5010-4453-AAC1-7226-3662C7BB2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8145E-D48C-4643-AB47-D9660A1880AA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F658F-CDE4-683E-F55B-773DB3209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D0A79-E491-C92A-1889-BFC5AAAAE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0FE18-2E54-3741-9C32-297143083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335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7F3DA1-6BCF-23A4-D483-DA59DA1F10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751C50-D125-56E0-31D6-EB5A5DF99A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087D6-1552-9106-057B-762A744BA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8145E-D48C-4643-AB47-D9660A1880AA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DCE86A-490F-F184-58CF-52F0EEF18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EA500-439F-8453-1615-23DF1070B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0FE18-2E54-3741-9C32-297143083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288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4582DA-CFFF-55C0-4663-610179E1F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1D0206-36AC-AB29-E6D8-BA0A2F0D7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87E3C-16FE-B907-6D1D-0449BDC410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8145E-D48C-4643-AB47-D9660A1880AA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D028E-85D5-DB06-FE0C-61FBCC0CB2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7F348-5955-F849-5B49-08A0FF7158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80FE18-2E54-3741-9C32-297143083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632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01EE6-997B-0859-9ACD-7F6B039E8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74637"/>
            <a:ext cx="11357987" cy="2743200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 initial survey of the wave drifter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B85765-A880-D916-2647-68ECEEC8D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7129" y="5694570"/>
            <a:ext cx="1395603" cy="997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61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403C9E8-8121-3C46-7D36-29104B7D24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447" r="8379" b="735"/>
          <a:stretch/>
        </p:blipFill>
        <p:spPr>
          <a:xfrm>
            <a:off x="5693228" y="0"/>
            <a:ext cx="603504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5D718D6-1667-BDF2-7FF2-3DA1E0A69F24}"/>
              </a:ext>
            </a:extLst>
          </p:cNvPr>
          <p:cNvSpPr txBox="1"/>
          <p:nvPr/>
        </p:nvSpPr>
        <p:spPr>
          <a:xfrm>
            <a:off x="463732" y="1219200"/>
            <a:ext cx="50444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4141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Observations are ALAMO float SST (°C) observations within 400 km of Hurricanes Irma and Florence in a storm‐centered, storm‐relative framework.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4141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 each observation time, a range and bearing to the TC center is calculated and then plotted with bearing rotated relative to the TC motion.</a:t>
            </a:r>
            <a:endParaRPr lang="en-US" sz="2400" dirty="0">
              <a:solidFill>
                <a:srgbClr val="141413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4141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Shaded arrows identify the direction of storm motion.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9CAE6F-F571-F9D2-31CD-D4B839BDC753}"/>
              </a:ext>
            </a:extLst>
          </p:cNvPr>
          <p:cNvSpPr txBox="1"/>
          <p:nvPr/>
        </p:nvSpPr>
        <p:spPr>
          <a:xfrm>
            <a:off x="463732" y="305812"/>
            <a:ext cx="5044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TC relative observations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B6641F-74D5-103F-756B-4FE4F68B0275}"/>
              </a:ext>
            </a:extLst>
          </p:cNvPr>
          <p:cNvSpPr txBox="1"/>
          <p:nvPr/>
        </p:nvSpPr>
        <p:spPr>
          <a:xfrm>
            <a:off x="820290" y="5797787"/>
            <a:ext cx="46878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Sanabia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&amp; Jayne, 2020: Ocean observations under two major </a:t>
            </a: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hurricanes: 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Evolution of the response across the storm wakes. </a:t>
            </a:r>
            <a:r>
              <a:rPr lang="en-US" sz="12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AGU Advances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e2019AV000161, doi:10.1029/2019AV000161.</a:t>
            </a:r>
          </a:p>
        </p:txBody>
      </p:sp>
    </p:spTree>
    <p:extLst>
      <p:ext uri="{BB962C8B-B14F-4D97-AF65-F5344CB8AC3E}">
        <p14:creationId xmlns:p14="http://schemas.microsoft.com/office/powerpoint/2010/main" val="371119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DDAA54-4F09-502A-8D6A-66B2B3D4C9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429" r="11429"/>
          <a:stretch/>
        </p:blipFill>
        <p:spPr>
          <a:xfrm>
            <a:off x="119676" y="926332"/>
            <a:ext cx="6113349" cy="5943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EE3EB92-10BF-E829-A1BF-4B160D72AD4B}"/>
              </a:ext>
            </a:extLst>
          </p:cNvPr>
          <p:cNvSpPr txBox="1"/>
          <p:nvPr/>
        </p:nvSpPr>
        <p:spPr>
          <a:xfrm>
            <a:off x="1283426" y="339481"/>
            <a:ext cx="9746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Observations over time relative to storm center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4D5DD2-AE86-D3F2-063E-A8878F2BE6DC}"/>
              </a:ext>
            </a:extLst>
          </p:cNvPr>
          <p:cNvSpPr txBox="1"/>
          <p:nvPr/>
        </p:nvSpPr>
        <p:spPr>
          <a:xfrm>
            <a:off x="5778139" y="1192223"/>
            <a:ext cx="5486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4141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Observations are sea level pressure from all 24 A-DWSB drifters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4141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 rotated into storm translation direction as of now</a:t>
            </a:r>
            <a:endParaRPr lang="en-US" sz="2400" dirty="0">
              <a:solidFill>
                <a:srgbClr val="141413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4141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1440 total observations covering about ±1 day of the closest approach of Erin to the array within a CPA radius of 300 km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4141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Mostly observed the lefthand side of the storm, far fewer observations on the righthand side – track shifted to the east compared to forecast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324947-73AF-D942-FDDA-56AD09E04F00}"/>
              </a:ext>
            </a:extLst>
          </p:cNvPr>
          <p:cNvSpPr txBox="1"/>
          <p:nvPr/>
        </p:nvSpPr>
        <p:spPr>
          <a:xfrm>
            <a:off x="1186376" y="6333853"/>
            <a:ext cx="4266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 relative to closest approach [days]</a:t>
            </a:r>
          </a:p>
        </p:txBody>
      </p:sp>
    </p:spTree>
    <p:extLst>
      <p:ext uri="{BB962C8B-B14F-4D97-AF65-F5344CB8AC3E}">
        <p14:creationId xmlns:p14="http://schemas.microsoft.com/office/powerpoint/2010/main" val="755851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DDAA54-4F09-502A-8D6A-66B2B3D4C9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429" r="11429"/>
          <a:stretch/>
        </p:blipFill>
        <p:spPr>
          <a:xfrm>
            <a:off x="119676" y="926332"/>
            <a:ext cx="6113349" cy="5943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EE3EB92-10BF-E829-A1BF-4B160D72AD4B}"/>
              </a:ext>
            </a:extLst>
          </p:cNvPr>
          <p:cNvSpPr txBox="1"/>
          <p:nvPr/>
        </p:nvSpPr>
        <p:spPr>
          <a:xfrm>
            <a:off x="1283426" y="339481"/>
            <a:ext cx="81436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 level pressure reconstruction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4D5DD2-AE86-D3F2-063E-A8878F2BE6DC}"/>
              </a:ext>
            </a:extLst>
          </p:cNvPr>
          <p:cNvSpPr txBox="1"/>
          <p:nvPr/>
        </p:nvSpPr>
        <p:spPr>
          <a:xfrm>
            <a:off x="5778139" y="1192223"/>
            <a:ext cx="54864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Initial pressure reconstruction looks promising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Minimum observed pressure of 957.5 mbar (compared to 960 mbar from closest aircraft vortex message)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But looking at the details of the reconstruction reveals issues related to the exact track used to calculate ranges and bearings</a:t>
            </a:r>
          </a:p>
        </p:txBody>
      </p:sp>
    </p:spTree>
    <p:extLst>
      <p:ext uri="{BB962C8B-B14F-4D97-AF65-F5344CB8AC3E}">
        <p14:creationId xmlns:p14="http://schemas.microsoft.com/office/powerpoint/2010/main" val="1055524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E6AF8C-DF16-12A5-FBE2-3215EBA0E4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-1"/>
            <a:ext cx="12188952" cy="6856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647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2A9F56-30C8-ABA3-5457-72894B5337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"/>
            <a:ext cx="12188952" cy="6856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610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DCF9E8-8EBD-A828-8058-BEC2DAA18E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429" r="11429"/>
          <a:stretch/>
        </p:blipFill>
        <p:spPr>
          <a:xfrm>
            <a:off x="6183086" y="1387153"/>
            <a:ext cx="5486400" cy="5334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2133D30-2B79-9395-7702-F576629795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429" r="11429"/>
          <a:stretch/>
        </p:blipFill>
        <p:spPr>
          <a:xfrm>
            <a:off x="609600" y="1387153"/>
            <a:ext cx="5486400" cy="5334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FECAA0-5437-B473-AB94-FF329138CD98}"/>
              </a:ext>
            </a:extLst>
          </p:cNvPr>
          <p:cNvSpPr txBox="1"/>
          <p:nvPr/>
        </p:nvSpPr>
        <p:spPr>
          <a:xfrm>
            <a:off x="1703615" y="1289604"/>
            <a:ext cx="3298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Track 1: preliminary best track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F32182-2524-A26B-2253-45B362B4453A}"/>
              </a:ext>
            </a:extLst>
          </p:cNvPr>
          <p:cNvSpPr txBox="1"/>
          <p:nvPr/>
        </p:nvSpPr>
        <p:spPr>
          <a:xfrm>
            <a:off x="762000" y="458212"/>
            <a:ext cx="11059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Details of the TC track matter for referencing </a:t>
            </a:r>
            <a:r>
              <a:rPr lang="en-US" sz="3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obs</a:t>
            </a:r>
            <a:r>
              <a:rPr lang="en-US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…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AA5601-AB23-3BC6-C202-390D7C061368}"/>
              </a:ext>
            </a:extLst>
          </p:cNvPr>
          <p:cNvSpPr txBox="1"/>
          <p:nvPr/>
        </p:nvSpPr>
        <p:spPr>
          <a:xfrm>
            <a:off x="7486650" y="1289604"/>
            <a:ext cx="2879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Track 2: my track estimate</a:t>
            </a:r>
          </a:p>
        </p:txBody>
      </p:sp>
    </p:spTree>
    <p:extLst>
      <p:ext uri="{BB962C8B-B14F-4D97-AF65-F5344CB8AC3E}">
        <p14:creationId xmlns:p14="http://schemas.microsoft.com/office/powerpoint/2010/main" val="249922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5D718D6-1667-BDF2-7FF2-3DA1E0A69F24}"/>
              </a:ext>
            </a:extLst>
          </p:cNvPr>
          <p:cNvSpPr txBox="1"/>
          <p:nvPr/>
        </p:nvSpPr>
        <p:spPr>
          <a:xfrm>
            <a:off x="463732" y="1219200"/>
            <a:ext cx="504444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14141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need more accurate and higher-temporal resolution best track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4141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HRD will produce a 2-minute track from aircraft observations.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Automated Rotational Center Hurricane Eye Retrieval (ARCHER)</a:t>
            </a:r>
            <a:r>
              <a:rPr lang="en-US" sz="2400" dirty="0">
                <a:solidFill>
                  <a:srgbClr val="14141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product doesn’t add a lot more temporal resolution.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4141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ML or AI location retrievals using Particle Image Velocimetry (PIV) on geostationary satellite imagery could be used – at least in a hurricane’s mature phase.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9CAE6F-F571-F9D2-31CD-D4B839BDC753}"/>
              </a:ext>
            </a:extLst>
          </p:cNvPr>
          <p:cNvSpPr txBox="1"/>
          <p:nvPr/>
        </p:nvSpPr>
        <p:spPr>
          <a:xfrm>
            <a:off x="463732" y="305812"/>
            <a:ext cx="5044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Higher-resolution track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2D2F2C-8BB7-3A10-F3EB-CC1FC11F3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868" y="685800"/>
            <a:ext cx="54864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994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285864-9670-CCA6-E8E1-51AB647D665B}"/>
              </a:ext>
            </a:extLst>
          </p:cNvPr>
          <p:cNvSpPr txBox="1"/>
          <p:nvPr/>
        </p:nvSpPr>
        <p:spPr>
          <a:xfrm>
            <a:off x="463732" y="1219200"/>
            <a:ext cx="50444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14141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precisely can we know the center of circulation?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4141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Compare vortex messages from aircraft fixes to the CSU Surface Winds from Aircraft with a Neural Network (SWANN) analysis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42F747-EB1A-1B8D-16A9-A147D55B907B}"/>
              </a:ext>
            </a:extLst>
          </p:cNvPr>
          <p:cNvSpPr txBox="1"/>
          <p:nvPr/>
        </p:nvSpPr>
        <p:spPr>
          <a:xfrm>
            <a:off x="463731" y="305812"/>
            <a:ext cx="5321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is the center?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7B2526F-C473-EED0-E782-6F703BE847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1152587"/>
              </p:ext>
            </p:extLst>
          </p:nvPr>
        </p:nvGraphicFramePr>
        <p:xfrm>
          <a:off x="6096000" y="555724"/>
          <a:ext cx="4937760" cy="5943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3876051029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72980349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191992957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354356418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Vortex Message (°N, °W)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SWANN</a:t>
                      </a:r>
                    </a:p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(°N, °W)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Difference (km)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Diameter (km)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98159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22.80, 70.39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22.83, 70.43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398816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22.89, 70.59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22.88, 70.57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243196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22.92, 70.68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22.93, 70.65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64634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23.07, 70.71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23.07, 70.70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676139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23.86, 71.37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23.88, 71.40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479179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24.04, 71.46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24.03, 71.47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66195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24.26, 71.58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24.27, 71.55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59151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24.45, 71.70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24.45, 71.71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042578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25.17, 72.12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25.15, 72.05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83324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25.40, 72.24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25.42, 72.23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177596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25.69, 72.27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25.70, 72.23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998499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26.07, 72.24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26.07, 72.25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852483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27.31, 72.71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27.17, 72.60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95863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27.51, 72.83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27.52, 72.82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480605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27.81, 72.99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27.82, 72.93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325705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28.19, 73.12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28.20, 73.10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469004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29.43, 73.68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29.40, 73.67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761145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29.58, 73.66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29.62, 73.72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659676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29.91, 73.69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29.92, 73.73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6241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30.36, 73.60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30.43, 74.52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18934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4769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BFBF05E-4B98-55CF-6CC4-27BA8CE8D6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214" r="21072"/>
          <a:stretch/>
        </p:blipFill>
        <p:spPr>
          <a:xfrm>
            <a:off x="8442600" y="1529193"/>
            <a:ext cx="3749040" cy="5334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9341F7-D013-6399-83AB-A163ED12400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057" r="22229"/>
          <a:stretch/>
        </p:blipFill>
        <p:spPr>
          <a:xfrm>
            <a:off x="4520376" y="1529630"/>
            <a:ext cx="3749039" cy="53339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95E1242-86AD-40D5-A794-17B5BB9A8E2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857" r="17857"/>
          <a:stretch/>
        </p:blipFill>
        <p:spPr>
          <a:xfrm>
            <a:off x="0" y="1530020"/>
            <a:ext cx="4572000" cy="5334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26C59D1-6398-54C5-8EFC-D8E2569DCBD4}"/>
              </a:ext>
            </a:extLst>
          </p:cNvPr>
          <p:cNvSpPr txBox="1"/>
          <p:nvPr/>
        </p:nvSpPr>
        <p:spPr>
          <a:xfrm>
            <a:off x="1540409" y="1226635"/>
            <a:ext cx="2079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 level pressure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B2174C-E07B-0F17-E7C7-28E6CCDF07D6}"/>
              </a:ext>
            </a:extLst>
          </p:cNvPr>
          <p:cNvSpPr txBox="1"/>
          <p:nvPr/>
        </p:nvSpPr>
        <p:spPr>
          <a:xfrm>
            <a:off x="5050035" y="1226635"/>
            <a:ext cx="2738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 surface temperature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B8D5C2-97CE-1E8D-F913-777C96A1889D}"/>
              </a:ext>
            </a:extLst>
          </p:cNvPr>
          <p:cNvSpPr txBox="1"/>
          <p:nvPr/>
        </p:nvSpPr>
        <p:spPr>
          <a:xfrm>
            <a:off x="9040339" y="1237656"/>
            <a:ext cx="2553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Significant wave height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A2FA3F-3631-4B0C-25CE-58FE39CC5D7C}"/>
              </a:ext>
            </a:extLst>
          </p:cNvPr>
          <p:cNvSpPr txBox="1"/>
          <p:nvPr/>
        </p:nvSpPr>
        <p:spPr>
          <a:xfrm>
            <a:off x="463731" y="305812"/>
            <a:ext cx="11595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Quick initial survey of pressure, SST, and waves data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48DD7D-88A8-6F35-A206-FC3F5D441AD2}"/>
              </a:ext>
            </a:extLst>
          </p:cNvPr>
          <p:cNvSpPr txBox="1"/>
          <p:nvPr/>
        </p:nvSpPr>
        <p:spPr>
          <a:xfrm>
            <a:off x="1277967" y="6362999"/>
            <a:ext cx="2604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 level pressure [mb]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B11B7C-EAD8-D7DC-8530-FC38C6103609}"/>
              </a:ext>
            </a:extLst>
          </p:cNvPr>
          <p:cNvSpPr txBox="1"/>
          <p:nvPr/>
        </p:nvSpPr>
        <p:spPr>
          <a:xfrm>
            <a:off x="4828508" y="6362999"/>
            <a:ext cx="3184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 surface temperature [°C]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A0E374-7242-2BCB-EA49-6B4BBBFD3602}"/>
              </a:ext>
            </a:extLst>
          </p:cNvPr>
          <p:cNvSpPr txBox="1"/>
          <p:nvPr/>
        </p:nvSpPr>
        <p:spPr>
          <a:xfrm>
            <a:off x="8825460" y="6362999"/>
            <a:ext cx="2983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Significant wave height [m]</a:t>
            </a:r>
          </a:p>
        </p:txBody>
      </p:sp>
    </p:spTree>
    <p:extLst>
      <p:ext uri="{BB962C8B-B14F-4D97-AF65-F5344CB8AC3E}">
        <p14:creationId xmlns:p14="http://schemas.microsoft.com/office/powerpoint/2010/main" val="1533212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3482</TotalTime>
  <Words>576</Words>
  <Application>Microsoft Macintosh PowerPoint</Application>
  <PresentationFormat>Widescreen</PresentationFormat>
  <Paragraphs>110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Tahoma</vt:lpstr>
      <vt:lpstr>Office Theme</vt:lpstr>
      <vt:lpstr>An initial survey of the wave drifter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initial survey of the wave drifter data</dc:title>
  <dc:creator>Microsoft Office User</dc:creator>
  <cp:lastModifiedBy>Microsoft Office User</cp:lastModifiedBy>
  <cp:revision>55</cp:revision>
  <dcterms:created xsi:type="dcterms:W3CDTF">2025-09-09T18:30:05Z</dcterms:created>
  <dcterms:modified xsi:type="dcterms:W3CDTF">2025-09-24T17:15:09Z</dcterms:modified>
</cp:coreProperties>
</file>